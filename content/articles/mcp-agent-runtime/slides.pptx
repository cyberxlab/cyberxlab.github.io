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484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MCP 架构深度拆解</a:t>
            </a:r>
          </a:p>
          <a:p>
            <a:pPr>
              <a:spcBef>
                <a:spcPts val="2000"/>
              </a:spcBef>
              <a:defRPr sz="2800">
                <a:solidFill>
                  <a:srgbClr val="38BDF8"/>
                </a:solidFill>
              </a:defRPr>
            </a:pPr>
            <a:r>
              <a:t>从协议规范到生产级 Agent 安全运行时</a:t>
            </a:r>
          </a:p>
          <a:p>
            <a:pPr>
              <a:spcBef>
                <a:spcPts val="4000"/>
              </a:spcBef>
              <a:defRPr sz="1600">
                <a:solidFill>
                  <a:srgbClr val="94A3B8"/>
                </a:solidFill>
              </a:defRPr>
            </a:pPr>
            <a:r>
              <a:t>Cyber·X·Labs · 前沿工程系统架构系列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01 行业痛点：M x N 紧耦合困境</a:t>
            </a:r>
          </a:p>
          <a:p>
            <a:pPr>
              <a:spcBef>
                <a:spcPts val="1800"/>
              </a:spcBef>
              <a:defRPr sz="2000" b="1">
                <a:solidFill>
                  <a:srgbClr val="38BDF8"/>
                </a:solidFill>
              </a:defRPr>
            </a:pPr>
            <a:r>
              <a:t>• 传统智能体直接通过 ad-hoc 脚本侵入宿主系统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   缺乏安全隔离与标准化接口定义</a:t>
            </a:r>
          </a:p>
          <a:p>
            <a:pPr>
              <a:spcBef>
                <a:spcPts val="1800"/>
              </a:spcBef>
              <a:defRPr sz="2000" b="1">
                <a:solidFill>
                  <a:srgbClr val="38BDF8"/>
                </a:solidFill>
              </a:defRPr>
            </a:pPr>
            <a:r>
              <a:t>• 客户端与工具提供方之间形成 M x N 维护代价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   各大 LLM 提供商均维护私有 Tool Call 规范</a:t>
            </a:r>
          </a:p>
          <a:p>
            <a:pPr>
              <a:spcBef>
                <a:spcPts val="1800"/>
              </a:spcBef>
              <a:defRPr sz="2000" b="1">
                <a:solidFill>
                  <a:srgbClr val="38BDF8"/>
                </a:solidFill>
              </a:defRPr>
            </a:pPr>
            <a:r>
              <a:t>• 借鉴 Language Server Protocol (LSP) 解耦哲学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   MCP 确立统一的上下文抽象层，解耦认知拓扑与物理拓扑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8FAFC"/>
                </a:solidFill>
              </a:defRPr>
            </a:pPr>
            <a:r>
              <a:t>02 协议底座与多层沙箱隔离体系</a:t>
            </a:r>
          </a:p>
          <a:p>
            <a:pPr>
              <a:spcBef>
                <a:spcPts val="1400"/>
              </a:spcBef>
              <a:defRPr sz="1800" b="1">
                <a:solidFill>
                  <a:srgbClr val="38BDF8"/>
                </a:solidFill>
              </a:defRPr>
            </a:pPr>
            <a:r>
              <a:t>• 第一级：Linux 命名空间与进程边界</a:t>
            </a:r>
          </a:p>
          <a:p>
            <a:pPr>
              <a:defRPr sz="1500">
                <a:solidFill>
                  <a:srgbClr val="CBD5E1"/>
                </a:solidFill>
              </a:defRPr>
            </a:pPr>
            <a:r>
              <a:t>   调用时延 2~5ms，适合内部高信环境</a:t>
            </a:r>
          </a:p>
          <a:p>
            <a:pPr>
              <a:spcBef>
                <a:spcPts val="1400"/>
              </a:spcBef>
              <a:defRPr sz="1800" b="1">
                <a:solidFill>
                  <a:srgbClr val="38BDF8"/>
                </a:solidFill>
              </a:defRPr>
            </a:pPr>
            <a:r>
              <a:t>• 第二级：Rootless 容器沙箱 (Docker / Podman)</a:t>
            </a:r>
          </a:p>
          <a:p>
            <a:pPr>
              <a:defRPr sz="1500">
                <a:solidFill>
                  <a:srgbClr val="CBD5E1"/>
                </a:solidFill>
              </a:defRPr>
            </a:pPr>
            <a:r>
              <a:t>   cgroups v2 配额管理，标准 CLI 开发首选</a:t>
            </a:r>
          </a:p>
          <a:p>
            <a:pPr>
              <a:spcBef>
                <a:spcPts val="1400"/>
              </a:spcBef>
              <a:defRPr sz="1800" b="1">
                <a:solidFill>
                  <a:srgbClr val="38BDF8"/>
                </a:solidFill>
              </a:defRPr>
            </a:pPr>
            <a:r>
              <a:t>• 第三级：硬件虚拟化轻量微虚机 (Firecracker / gVisor)</a:t>
            </a:r>
          </a:p>
          <a:p>
            <a:pPr>
              <a:defRPr sz="1500">
                <a:solidFill>
                  <a:srgbClr val="CBD5E1"/>
                </a:solidFill>
              </a:defRPr>
            </a:pPr>
            <a:r>
              <a:t>   内核级强隔离，多租户不受信代码执行</a:t>
            </a:r>
          </a:p>
          <a:p>
            <a:pPr>
              <a:spcBef>
                <a:spcPts val="1400"/>
              </a:spcBef>
              <a:defRPr sz="1800" b="1">
                <a:solidFill>
                  <a:srgbClr val="38BDF8"/>
                </a:solidFill>
              </a:defRPr>
            </a:pPr>
            <a:r>
              <a:t>• 第四级：并发 Git Worktree 隔离机制</a:t>
            </a:r>
          </a:p>
          <a:p>
            <a:pPr>
              <a:defRPr sz="1500">
                <a:solidFill>
                  <a:srgbClr val="CBD5E1"/>
                </a:solidFill>
              </a:defRPr>
            </a:pPr>
            <a:r>
              <a:t>   为每个 Subagent 分发独立工作树，彻底杜绝 .git/index.lock 冲突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